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F62875-842D-4AF3-83D9-09344F775AB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D13100-A681-4FDD-B3D1-098AD14BB6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F36837-45F7-444D-9BBE-034CD8E7AF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B9E035-0148-40D9-8407-F2D4561CE2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CD5F22-DAA3-47A0-9811-E8E88B38E3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A3FACA-3705-420F-BE6A-453F126E2B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6AD7A5-7EA4-4D65-BA98-35468319A0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C095F0-3E50-47B6-A9D6-CAACB49DCC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55397E-4435-45C3-A219-D1CF457A5A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290F6B-AFE1-4299-857F-45171E2096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0BE2E-9991-40B6-B20D-6CCA0EFB06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217920" y="-914400"/>
            <a:ext cx="4114440" cy="4114440"/>
          </a:xfrm>
          <a:prstGeom prst="ellipse">
            <a:avLst/>
          </a:prstGeom>
          <a:solidFill>
            <a:srgbClr val="1b4f8a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2560320"/>
            <a:ext cx="2742840" cy="2742840"/>
          </a:xfrm>
          <a:prstGeom prst="ellipse">
            <a:avLst/>
          </a:prstGeom>
          <a:solidFill>
            <a:srgbClr val="0e7c7b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0"/>
            <a:ext cx="63720" cy="514332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20040" y="201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pc="249" strike="noStrike">
                <a:solidFill>
                  <a:srgbClr val="0e7c7b"/>
                </a:solidFill>
                <a:effectLst/>
                <a:uFillTx/>
                <a:latin typeface="Calibri"/>
              </a:rPr>
              <a:t>INVENTION DISCLOSURE  ·  SR UNIVERSITY, WARANGAL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20040" y="594360"/>
            <a:ext cx="76806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Multi-Factor Gesture-Based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Authentication System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20040" y="217620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i="1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for Secure Smart Home and IoT Applications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290160" y="3081960"/>
            <a:ext cx="8503560" cy="3470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89160" y="30657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50" strike="noStrike">
                <a:solidFill>
                  <a:srgbClr val="ffffff"/>
                </a:solidFill>
                <a:effectLst/>
                <a:uFillTx/>
                <a:latin typeface="Calibri"/>
              </a:rPr>
              <a:t>TEAM DETAILS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320040" y="3493080"/>
            <a:ext cx="8503560" cy="347040"/>
          </a:xfrm>
          <a:prstGeom prst="rect">
            <a:avLst/>
          </a:prstGeom>
          <a:solidFill>
            <a:srgbClr val="e8f4f8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11480" y="34930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Ms. Laxmiprassana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017520" y="349308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CSE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794760" y="349308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Student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5212080" y="349308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laxmiprasannaadla777@gmail.com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20040" y="3858840"/>
            <a:ext cx="8503560" cy="347040"/>
          </a:xfrm>
          <a:prstGeom prst="rect">
            <a:avLst/>
          </a:pr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11480" y="38588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Ms. Shruthi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017520" y="385884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CSE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3794760" y="385884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Student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212080" y="385884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dandushruthi.624@gmail.com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320040" y="4224600"/>
            <a:ext cx="8503560" cy="347040"/>
          </a:xfrm>
          <a:prstGeom prst="rect">
            <a:avLst/>
          </a:prstGeom>
          <a:solidFill>
            <a:srgbClr val="e8f4f8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411480" y="422460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Ms. Aishwarya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017520" y="422460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CSE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794760" y="422460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Student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5212080" y="422460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konkalaaishwarya@gmail.com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320040" y="4590360"/>
            <a:ext cx="8503560" cy="347040"/>
          </a:xfrm>
          <a:prstGeom prst="rect">
            <a:avLst/>
          </a:pr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411480" y="45903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Mr. Manidhar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3017520" y="4590360"/>
            <a:ext cx="731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CSE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3794760" y="45903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Student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212080" y="4590360"/>
            <a:ext cx="352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manidharyadav54@gmail.com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2: Introduction of the Project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365760" y="107892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What is this project?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365760" y="1481400"/>
            <a:ext cx="8412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A Multi-Factor Gesture-Based Authentication System designed for Smart Home and IoT environments. It uses deep learning models (ResNet + MobileNet) combined with Owl Search Optimization to provide secure, contactless, real-time authentication by recognizing hand gestures along with face and voice biometrics.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274320" y="2514600"/>
            <a:ext cx="2788560" cy="242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274320" y="2514600"/>
            <a:ext cx="2788560" cy="637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384120" y="2633400"/>
            <a:ext cx="257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The Problem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384120" y="3063240"/>
            <a:ext cx="25783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Traditional passwords and single-factor biometrics are insecure, hackable, and prone to spoofing in smart home environments.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3200400" y="2514600"/>
            <a:ext cx="2788560" cy="242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3200400" y="2514600"/>
            <a:ext cx="2788560" cy="6372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3310200" y="2633400"/>
            <a:ext cx="257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Our Solution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3310200" y="3063240"/>
            <a:ext cx="25783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Fuse gesture recognition + face + voice into one seamless multi-factor system powered by AI and optimization algorithms.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2"/>
          <p:cNvSpPr/>
          <p:nvPr/>
        </p:nvSpPr>
        <p:spPr>
          <a:xfrm>
            <a:off x="6126480" y="2514600"/>
            <a:ext cx="2788560" cy="242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3"/>
          <p:cNvSpPr/>
          <p:nvPr/>
        </p:nvSpPr>
        <p:spPr>
          <a:xfrm>
            <a:off x="6126480" y="2514600"/>
            <a:ext cx="2788560" cy="6372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6236280" y="2633400"/>
            <a:ext cx="2578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1b4f8a"/>
                </a:solidFill>
                <a:effectLst/>
                <a:uFillTx/>
                <a:latin typeface="Calibri"/>
              </a:rPr>
              <a:t>The Impact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6236280" y="3063240"/>
            <a:ext cx="25783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Achieves 96% accuracy with &lt;150ms response — enabling contactless, intelligent access control for IoT devices.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274320" y="4827960"/>
            <a:ext cx="8595000" cy="228240"/>
          </a:xfrm>
          <a:prstGeom prst="rect">
            <a:avLst/>
          </a:prstGeom>
          <a:solidFill>
            <a:srgbClr val="0e7c7b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365760" y="482796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SR University · CS&amp;AI / CSE Department ·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3: Objectives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274320" y="1078920"/>
            <a:ext cx="4205880" cy="1142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274320" y="1078920"/>
            <a:ext cx="594000" cy="1142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274320" y="1078920"/>
            <a:ext cx="59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932760" y="115200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Contactless Authentication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932760" y="1536120"/>
            <a:ext cx="3428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Develop a camera-based gesture recognition system that authenticates users without physical contact.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4709160" y="1078920"/>
            <a:ext cx="4205880" cy="1142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709160" y="1078920"/>
            <a:ext cx="594000" cy="1142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4709160" y="1078920"/>
            <a:ext cx="59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5367600" y="115200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Multi-Factor Security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5367600" y="1536120"/>
            <a:ext cx="3428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Integrate gesture, face, and voice biometrics into a unified fusion model for robust authentication.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274320" y="2340720"/>
            <a:ext cx="4205880" cy="1142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274320" y="2340720"/>
            <a:ext cx="594000" cy="1142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274320" y="2340720"/>
            <a:ext cx="59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932760" y="241416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Deep Learning Integration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932760" y="2797920"/>
            <a:ext cx="3428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Apply ResNet for hand segmentation and MobileNet for lightweight, accurate gesture classification.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4709160" y="2340720"/>
            <a:ext cx="4205880" cy="1142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4709160" y="2340720"/>
            <a:ext cx="594000" cy="1142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4709160" y="2340720"/>
            <a:ext cx="59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5367600" y="241416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Performance Optimization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5367600" y="2797920"/>
            <a:ext cx="3428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Use Owl Search Algorithm to auto-tune decision thresholds and maximize system accuracy.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274320" y="3602880"/>
            <a:ext cx="4205880" cy="1142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274320" y="3602880"/>
            <a:ext cx="594000" cy="1142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4"/>
          <p:cNvSpPr/>
          <p:nvPr/>
        </p:nvSpPr>
        <p:spPr>
          <a:xfrm>
            <a:off x="274320" y="3602880"/>
            <a:ext cx="59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932760" y="367596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IoT Device Control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932760" y="4060080"/>
            <a:ext cx="3428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Enable real-time secure control of smart home devices such as door locks and appliances.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4709160" y="3602880"/>
            <a:ext cx="4205880" cy="1142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4709160" y="3602880"/>
            <a:ext cx="594000" cy="1142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9"/>
          <p:cNvSpPr/>
          <p:nvPr/>
        </p:nvSpPr>
        <p:spPr>
          <a:xfrm>
            <a:off x="4709160" y="3602880"/>
            <a:ext cx="594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5367600" y="3675960"/>
            <a:ext cx="3428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Scalability &amp; Generalization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1"/>
          <p:cNvSpPr/>
          <p:nvPr/>
        </p:nvSpPr>
        <p:spPr>
          <a:xfrm>
            <a:off x="5367600" y="4060080"/>
            <a:ext cx="3428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Build a system extensible to healthcare, banking, smart cities, and other IoT domains.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4: Stakeholders (For Whom the Project is Done)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228600" y="109728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228600" y="1097280"/>
            <a:ext cx="2742840" cy="543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2057400" y="1188720"/>
            <a:ext cx="822600" cy="22824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2057400" y="118872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Primary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228600" y="117036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🏠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320040" y="18104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Homeowners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320040" y="21398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Smart home residents who want secure, hands-free control of door locks and appliances.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3154680" y="109728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3154680" y="1097280"/>
            <a:ext cx="2742840" cy="543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4983480" y="1188720"/>
            <a:ext cx="822600" cy="22824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4983480" y="118872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Primary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3154680" y="117036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🏥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3246120" y="18104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Healthcare Facilities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3246120" y="21398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Hospitals needing hygienic, contactless access to restricted medical areas and patient records.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6080760" y="109728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6080760" y="1097280"/>
            <a:ext cx="2742840" cy="5436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8"/>
          <p:cNvSpPr/>
          <p:nvPr/>
        </p:nvSpPr>
        <p:spPr>
          <a:xfrm>
            <a:off x="7909560" y="1188720"/>
            <a:ext cx="822600" cy="228240"/>
          </a:xfrm>
          <a:prstGeom prst="roundRect">
            <a:avLst>
              <a:gd name="adj" fmla="val 12000"/>
            </a:avLst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7909560" y="118872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Secondary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6080760" y="117036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🏢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6172200" y="18104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Enterprises &amp; Offices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6172200" y="213984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Companies requiring secure access management for buildings and sensitive workstations.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3"/>
          <p:cNvSpPr/>
          <p:nvPr/>
        </p:nvSpPr>
        <p:spPr>
          <a:xfrm>
            <a:off x="228600" y="30175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4"/>
          <p:cNvSpPr/>
          <p:nvPr/>
        </p:nvSpPr>
        <p:spPr>
          <a:xfrm>
            <a:off x="228600" y="3017520"/>
            <a:ext cx="2742840" cy="5436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5"/>
          <p:cNvSpPr/>
          <p:nvPr/>
        </p:nvSpPr>
        <p:spPr>
          <a:xfrm>
            <a:off x="2057400" y="3108960"/>
            <a:ext cx="822600" cy="228240"/>
          </a:xfrm>
          <a:prstGeom prst="roundRect">
            <a:avLst>
              <a:gd name="adj" fmla="val 12000"/>
            </a:avLst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2057400" y="310896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Secondary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7"/>
          <p:cNvSpPr/>
          <p:nvPr/>
        </p:nvSpPr>
        <p:spPr>
          <a:xfrm>
            <a:off x="228600" y="309060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🏦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320040" y="37306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Banking Sector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320040" y="406008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Banks and fintech firms deploying multi-factor authentication for ATM and digital services.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0"/>
          <p:cNvSpPr/>
          <p:nvPr/>
        </p:nvSpPr>
        <p:spPr>
          <a:xfrm>
            <a:off x="3154680" y="30175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1"/>
          <p:cNvSpPr/>
          <p:nvPr/>
        </p:nvSpPr>
        <p:spPr>
          <a:xfrm>
            <a:off x="3154680" y="3017520"/>
            <a:ext cx="2742840" cy="54360"/>
          </a:xfrm>
          <a:prstGeom prst="rect">
            <a:avLst/>
          </a:prstGeom>
          <a:solidFill>
            <a:srgbClr val="7b6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2"/>
          <p:cNvSpPr/>
          <p:nvPr/>
        </p:nvSpPr>
        <p:spPr>
          <a:xfrm>
            <a:off x="4983480" y="3108960"/>
            <a:ext cx="822600" cy="228240"/>
          </a:xfrm>
          <a:prstGeom prst="roundRect">
            <a:avLst>
              <a:gd name="adj" fmla="val 12000"/>
            </a:avLst>
          </a:prstGeom>
          <a:solidFill>
            <a:srgbClr val="7b6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3"/>
          <p:cNvSpPr/>
          <p:nvPr/>
        </p:nvSpPr>
        <p:spPr>
          <a:xfrm>
            <a:off x="4983480" y="310896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Tertiary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3154680" y="309060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🎓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5"/>
          <p:cNvSpPr/>
          <p:nvPr/>
        </p:nvSpPr>
        <p:spPr>
          <a:xfrm>
            <a:off x="3246120" y="37306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Academic Researchers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6"/>
          <p:cNvSpPr/>
          <p:nvPr/>
        </p:nvSpPr>
        <p:spPr>
          <a:xfrm>
            <a:off x="3246120" y="406008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Researchers and students studying AI-based biometric security and IoT systems.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7"/>
          <p:cNvSpPr/>
          <p:nvPr/>
        </p:nvSpPr>
        <p:spPr>
          <a:xfrm>
            <a:off x="6080760" y="3017520"/>
            <a:ext cx="2742840" cy="173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8"/>
          <p:cNvSpPr/>
          <p:nvPr/>
        </p:nvSpPr>
        <p:spPr>
          <a:xfrm>
            <a:off x="6080760" y="3017520"/>
            <a:ext cx="2742840" cy="54360"/>
          </a:xfrm>
          <a:prstGeom prst="rect">
            <a:avLst/>
          </a:prstGeom>
          <a:solidFill>
            <a:srgbClr val="7b6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9"/>
          <p:cNvSpPr/>
          <p:nvPr/>
        </p:nvSpPr>
        <p:spPr>
          <a:xfrm>
            <a:off x="7909560" y="3108960"/>
            <a:ext cx="822600" cy="228240"/>
          </a:xfrm>
          <a:prstGeom prst="roundRect">
            <a:avLst>
              <a:gd name="adj" fmla="val 12000"/>
            </a:avLst>
          </a:prstGeom>
          <a:solidFill>
            <a:srgbClr val="7b6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0"/>
          <p:cNvSpPr/>
          <p:nvPr/>
        </p:nvSpPr>
        <p:spPr>
          <a:xfrm>
            <a:off x="7909560" y="310896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Tertiary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1"/>
          <p:cNvSpPr/>
          <p:nvPr/>
        </p:nvSpPr>
        <p:spPr>
          <a:xfrm>
            <a:off x="6080760" y="309060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🌆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2"/>
          <p:cNvSpPr/>
          <p:nvPr/>
        </p:nvSpPr>
        <p:spPr>
          <a:xfrm>
            <a:off x="6172200" y="37306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</a:rPr>
              <a:t>Smart City Planners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3"/>
          <p:cNvSpPr/>
          <p:nvPr/>
        </p:nvSpPr>
        <p:spPr>
          <a:xfrm>
            <a:off x="6172200" y="406008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45566"/>
                </a:solidFill>
                <a:effectLst/>
                <a:uFillTx/>
                <a:latin typeface="Calibri"/>
              </a:rPr>
              <a:t>Urban infrastructure teams building scalable IoT authentication for public systems.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5: Programming Languages, Tools, and Software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228600" y="1078920"/>
            <a:ext cx="2011320" cy="41112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228600" y="1078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Languages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228600" y="157284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338400" y="1792080"/>
            <a:ext cx="127800" cy="127800"/>
          </a:xfrm>
          <a:prstGeom prst="ellipse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"/>
          <p:cNvSpPr/>
          <p:nvPr/>
        </p:nvSpPr>
        <p:spPr>
          <a:xfrm>
            <a:off x="521280" y="164592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Python 3.10+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228600" y="223128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338400" y="2450520"/>
            <a:ext cx="127800" cy="127800"/>
          </a:xfrm>
          <a:prstGeom prst="ellipse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521280" y="230436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JavaScript (Node.js)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228600" y="288936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338400" y="3108960"/>
            <a:ext cx="127800" cy="127800"/>
          </a:xfrm>
          <a:prstGeom prst="ellipse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521280" y="296280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HTML / CSS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228600" y="354780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4"/>
          <p:cNvSpPr/>
          <p:nvPr/>
        </p:nvSpPr>
        <p:spPr>
          <a:xfrm>
            <a:off x="338400" y="3767400"/>
            <a:ext cx="127800" cy="127800"/>
          </a:xfrm>
          <a:prstGeom prst="ellipse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521280" y="362088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Shell / Bash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2423160" y="1078920"/>
            <a:ext cx="2011320" cy="41112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2423160" y="1078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/ ML Libraries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2423160" y="157284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2532960" y="1792080"/>
            <a:ext cx="127800" cy="12780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2715840" y="164592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TensorFlow / Keras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1"/>
          <p:cNvSpPr/>
          <p:nvPr/>
        </p:nvSpPr>
        <p:spPr>
          <a:xfrm>
            <a:off x="2423160" y="223128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2532960" y="2450520"/>
            <a:ext cx="127800" cy="12780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3"/>
          <p:cNvSpPr/>
          <p:nvPr/>
        </p:nvSpPr>
        <p:spPr>
          <a:xfrm>
            <a:off x="2715840" y="230436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OpenCV (cv2)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2423160" y="288936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5"/>
          <p:cNvSpPr/>
          <p:nvPr/>
        </p:nvSpPr>
        <p:spPr>
          <a:xfrm>
            <a:off x="2532960" y="3108960"/>
            <a:ext cx="127800" cy="12780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2715840" y="296280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NumPy / Pandas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7"/>
          <p:cNvSpPr/>
          <p:nvPr/>
        </p:nvSpPr>
        <p:spPr>
          <a:xfrm>
            <a:off x="2423160" y="354780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8"/>
          <p:cNvSpPr/>
          <p:nvPr/>
        </p:nvSpPr>
        <p:spPr>
          <a:xfrm>
            <a:off x="2532960" y="3767400"/>
            <a:ext cx="127800" cy="12780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9"/>
          <p:cNvSpPr/>
          <p:nvPr/>
        </p:nvSpPr>
        <p:spPr>
          <a:xfrm>
            <a:off x="2715840" y="362088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Scikit-learn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0"/>
          <p:cNvSpPr/>
          <p:nvPr/>
        </p:nvSpPr>
        <p:spPr>
          <a:xfrm>
            <a:off x="2423160" y="420624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1"/>
          <p:cNvSpPr/>
          <p:nvPr/>
        </p:nvSpPr>
        <p:spPr>
          <a:xfrm>
            <a:off x="2532960" y="4425840"/>
            <a:ext cx="127800" cy="127800"/>
          </a:xfrm>
          <a:prstGeom prst="ellipse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2715840" y="427932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MediaPipe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3"/>
          <p:cNvSpPr/>
          <p:nvPr/>
        </p:nvSpPr>
        <p:spPr>
          <a:xfrm>
            <a:off x="4617720" y="1078920"/>
            <a:ext cx="2011320" cy="411120"/>
          </a:xfrm>
          <a:prstGeom prst="rect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4617720" y="1078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Models Used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5"/>
          <p:cNvSpPr/>
          <p:nvPr/>
        </p:nvSpPr>
        <p:spPr>
          <a:xfrm>
            <a:off x="4617720" y="157284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6"/>
          <p:cNvSpPr/>
          <p:nvPr/>
        </p:nvSpPr>
        <p:spPr>
          <a:xfrm>
            <a:off x="4727520" y="1792080"/>
            <a:ext cx="127800" cy="127800"/>
          </a:xfrm>
          <a:prstGeom prst="ellipse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7"/>
          <p:cNvSpPr/>
          <p:nvPr/>
        </p:nvSpPr>
        <p:spPr>
          <a:xfrm>
            <a:off x="4910400" y="164592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ResNet-50 (Segmentation)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8"/>
          <p:cNvSpPr/>
          <p:nvPr/>
        </p:nvSpPr>
        <p:spPr>
          <a:xfrm>
            <a:off x="4617720" y="223128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9"/>
          <p:cNvSpPr/>
          <p:nvPr/>
        </p:nvSpPr>
        <p:spPr>
          <a:xfrm>
            <a:off x="4727520" y="2450520"/>
            <a:ext cx="127800" cy="127800"/>
          </a:xfrm>
          <a:prstGeom prst="ellipse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0"/>
          <p:cNvSpPr/>
          <p:nvPr/>
        </p:nvSpPr>
        <p:spPr>
          <a:xfrm>
            <a:off x="4910400" y="230436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MobileNetV2 (Classification)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1"/>
          <p:cNvSpPr/>
          <p:nvPr/>
        </p:nvSpPr>
        <p:spPr>
          <a:xfrm>
            <a:off x="4617720" y="288936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2"/>
          <p:cNvSpPr/>
          <p:nvPr/>
        </p:nvSpPr>
        <p:spPr>
          <a:xfrm>
            <a:off x="4727520" y="3108960"/>
            <a:ext cx="127800" cy="127800"/>
          </a:xfrm>
          <a:prstGeom prst="ellipse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3"/>
          <p:cNvSpPr/>
          <p:nvPr/>
        </p:nvSpPr>
        <p:spPr>
          <a:xfrm>
            <a:off x="4910400" y="296280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Owl Search Optimizer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4"/>
          <p:cNvSpPr/>
          <p:nvPr/>
        </p:nvSpPr>
        <p:spPr>
          <a:xfrm>
            <a:off x="4617720" y="354780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5"/>
          <p:cNvSpPr/>
          <p:nvPr/>
        </p:nvSpPr>
        <p:spPr>
          <a:xfrm>
            <a:off x="4727520" y="3767400"/>
            <a:ext cx="127800" cy="127800"/>
          </a:xfrm>
          <a:prstGeom prst="ellipse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6"/>
          <p:cNvSpPr/>
          <p:nvPr/>
        </p:nvSpPr>
        <p:spPr>
          <a:xfrm>
            <a:off x="4910400" y="362088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Fusion Decision Model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7"/>
          <p:cNvSpPr/>
          <p:nvPr/>
        </p:nvSpPr>
        <p:spPr>
          <a:xfrm>
            <a:off x="6812280" y="1078920"/>
            <a:ext cx="2011320" cy="411120"/>
          </a:xfrm>
          <a:prstGeom prst="rect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8"/>
          <p:cNvSpPr/>
          <p:nvPr/>
        </p:nvSpPr>
        <p:spPr>
          <a:xfrm>
            <a:off x="6812280" y="1078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Tools &amp; Platforms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9"/>
          <p:cNvSpPr/>
          <p:nvPr/>
        </p:nvSpPr>
        <p:spPr>
          <a:xfrm>
            <a:off x="6812280" y="157284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50"/>
          <p:cNvSpPr/>
          <p:nvPr/>
        </p:nvSpPr>
        <p:spPr>
          <a:xfrm>
            <a:off x="6922080" y="1792080"/>
            <a:ext cx="127800" cy="1278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1"/>
          <p:cNvSpPr/>
          <p:nvPr/>
        </p:nvSpPr>
        <p:spPr>
          <a:xfrm>
            <a:off x="7104960" y="164592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Google Colab / Jupyter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52"/>
          <p:cNvSpPr/>
          <p:nvPr/>
        </p:nvSpPr>
        <p:spPr>
          <a:xfrm>
            <a:off x="6812280" y="223128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3"/>
          <p:cNvSpPr/>
          <p:nvPr/>
        </p:nvSpPr>
        <p:spPr>
          <a:xfrm>
            <a:off x="6922080" y="2450520"/>
            <a:ext cx="127800" cy="1278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4"/>
          <p:cNvSpPr/>
          <p:nvPr/>
        </p:nvSpPr>
        <p:spPr>
          <a:xfrm>
            <a:off x="7104960" y="230436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VS Code IDE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5"/>
          <p:cNvSpPr/>
          <p:nvPr/>
        </p:nvSpPr>
        <p:spPr>
          <a:xfrm>
            <a:off x="6812280" y="2889360"/>
            <a:ext cx="2011320" cy="56664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56"/>
          <p:cNvSpPr/>
          <p:nvPr/>
        </p:nvSpPr>
        <p:spPr>
          <a:xfrm>
            <a:off x="6922080" y="3108960"/>
            <a:ext cx="127800" cy="1278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7"/>
          <p:cNvSpPr/>
          <p:nvPr/>
        </p:nvSpPr>
        <p:spPr>
          <a:xfrm>
            <a:off x="7104960" y="296280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GitHub (Version Control)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8"/>
          <p:cNvSpPr/>
          <p:nvPr/>
        </p:nvSpPr>
        <p:spPr>
          <a:xfrm>
            <a:off x="6812280" y="3547800"/>
            <a:ext cx="2011320" cy="56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59"/>
          <p:cNvSpPr/>
          <p:nvPr/>
        </p:nvSpPr>
        <p:spPr>
          <a:xfrm>
            <a:off x="6922080" y="3767400"/>
            <a:ext cx="127800" cy="1278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0"/>
          <p:cNvSpPr/>
          <p:nvPr/>
        </p:nvSpPr>
        <p:spPr>
          <a:xfrm>
            <a:off x="7104960" y="3620880"/>
            <a:ext cx="1627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23344"/>
                </a:solidFill>
                <a:effectLst/>
                <a:uFillTx/>
                <a:latin typeface="Calibri"/>
              </a:rPr>
              <a:t>Raspberry Pi / Edge IoT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1"/>
          <p:cNvSpPr/>
          <p:nvPr/>
        </p:nvSpPr>
        <p:spPr>
          <a:xfrm>
            <a:off x="228600" y="4645080"/>
            <a:ext cx="868644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2"/>
          <p:cNvSpPr/>
          <p:nvPr/>
        </p:nvSpPr>
        <p:spPr>
          <a:xfrm>
            <a:off x="320040" y="4645080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AI Tools Used: ChatGPT (prompt engineering &amp; code generation)  ·  GitHub Copilot  ·  Claude AI  ·  Google Gemini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6: All Prompts Used to Generate the Codes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"/>
          <p:cNvSpPr/>
          <p:nvPr/>
        </p:nvSpPr>
        <p:spPr>
          <a:xfrm>
            <a:off x="274320" y="1051560"/>
            <a:ext cx="85950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274320" y="1051560"/>
            <a:ext cx="502560" cy="7128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274320" y="1051560"/>
            <a:ext cx="502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850320" y="10972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ResNet Segmentation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850320" y="1371600"/>
            <a:ext cx="7909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"Write Python code using TensorFlow to implement ResNet-50 based hand segmentation that detects and extracts the hand region from a video frame captured via webcam using OpenCV."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274320" y="1828800"/>
            <a:ext cx="85950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274320" y="1828800"/>
            <a:ext cx="502560" cy="7128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274320" y="1828800"/>
            <a:ext cx="502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850320" y="18745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MobileNet Gesture Classifier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850320" y="2148840"/>
            <a:ext cx="7909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"Create a MobileNetV2 transfer learning model in Keras to classify hand gestures into 10 categories. Include data augmentation, training loop, and model evaluation with accuracy and loss plots."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274320" y="2606040"/>
            <a:ext cx="85950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274320" y="2606040"/>
            <a:ext cx="502560" cy="7128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274320" y="2606040"/>
            <a:ext cx="502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850320" y="265176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Owl Search Optimization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850320" y="2926080"/>
            <a:ext cx="7909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"Implement the Owl Search Algorithm in Python to optimize the decision threshold parameters of a multi-factor authentication system. Include fitness function and convergence plot."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274320" y="3383280"/>
            <a:ext cx="85950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8"/>
          <p:cNvSpPr/>
          <p:nvPr/>
        </p:nvSpPr>
        <p:spPr>
          <a:xfrm>
            <a:off x="274320" y="3383280"/>
            <a:ext cx="502560" cy="7128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274320" y="3383280"/>
            <a:ext cx="502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850320" y="34290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Multi-Factor Fusion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1"/>
          <p:cNvSpPr/>
          <p:nvPr/>
        </p:nvSpPr>
        <p:spPr>
          <a:xfrm>
            <a:off x="850320" y="3703320"/>
            <a:ext cx="7909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"Write a fusion model in Python that combines gesture, face recognition (DeepFace), and voice authentication scores using weighted averaging to produce a final authentication decision."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2"/>
          <p:cNvSpPr/>
          <p:nvPr/>
        </p:nvSpPr>
        <p:spPr>
          <a:xfrm>
            <a:off x="274320" y="4160520"/>
            <a:ext cx="859500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3"/>
          <p:cNvSpPr/>
          <p:nvPr/>
        </p:nvSpPr>
        <p:spPr>
          <a:xfrm>
            <a:off x="274320" y="4160520"/>
            <a:ext cx="502560" cy="7128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274320" y="4160520"/>
            <a:ext cx="502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5"/>
          <p:cNvSpPr/>
          <p:nvPr/>
        </p:nvSpPr>
        <p:spPr>
          <a:xfrm>
            <a:off x="850320" y="420624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0e7c7b"/>
                </a:solidFill>
                <a:effectLst/>
                <a:uFillTx/>
                <a:latin typeface="Calibri"/>
              </a:rPr>
              <a:t>IoT Integration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6"/>
          <p:cNvSpPr/>
          <p:nvPr/>
        </p:nvSpPr>
        <p:spPr>
          <a:xfrm>
            <a:off x="850320" y="4480560"/>
            <a:ext cx="7909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"Generate Python code to send MQTT commands to IoT devices (smart door lock, lights) upon successful authentication, using the paho-mqtt library and Raspberry Pi GPIO control."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27"/>
          <p:cNvSpPr/>
          <p:nvPr/>
        </p:nvSpPr>
        <p:spPr>
          <a:xfrm>
            <a:off x="274320" y="4956120"/>
            <a:ext cx="8595000" cy="9108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8"/>
          <p:cNvSpPr/>
          <p:nvPr/>
        </p:nvSpPr>
        <p:spPr>
          <a:xfrm>
            <a:off x="320040" y="4983480"/>
            <a:ext cx="850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8a9bb0"/>
                </a:solidFill>
                <a:effectLst/>
                <a:uFillTx/>
                <a:latin typeface="Calibri"/>
              </a:rPr>
              <a:t>Additional prompts used for testing, debugging, and UI design are documented in the project repository.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7: Workflow Flowchart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"/>
          <p:cNvSpPr/>
          <p:nvPr/>
        </p:nvSpPr>
        <p:spPr>
          <a:xfrm>
            <a:off x="274320" y="1078920"/>
            <a:ext cx="3474360" cy="4752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274320" y="107892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2011680" y="1554480"/>
            <a:ext cx="360" cy="14616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274320" y="1700640"/>
            <a:ext cx="3474360" cy="4752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274320" y="170064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Initialize Camera &amp; Sensors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7"/>
          <p:cNvSpPr/>
          <p:nvPr/>
        </p:nvSpPr>
        <p:spPr>
          <a:xfrm>
            <a:off x="2011680" y="2176200"/>
            <a:ext cx="360" cy="14616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274320" y="2322720"/>
            <a:ext cx="3474360" cy="4752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274320" y="232272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Capture Frame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2011680" y="2797920"/>
            <a:ext cx="360" cy="14616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274320" y="2944440"/>
            <a:ext cx="3474360" cy="47520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274320" y="294444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 Hand Region (ResNet)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2011680" y="3419640"/>
            <a:ext cx="360" cy="14652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274320" y="3566160"/>
            <a:ext cx="3474360" cy="4752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274320" y="356616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Hand Detected?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6"/>
          <p:cNvSpPr/>
          <p:nvPr/>
        </p:nvSpPr>
        <p:spPr>
          <a:xfrm>
            <a:off x="2011680" y="4041360"/>
            <a:ext cx="360" cy="14652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3794760" y="3703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No → Retry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274320" y="4187880"/>
            <a:ext cx="3474360" cy="47520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274320" y="4187880"/>
            <a:ext cx="3474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Extract Features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5257800" y="1078920"/>
            <a:ext cx="3611520" cy="47520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5257800" y="1078920"/>
            <a:ext cx="361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Classify Gesture (MobileNet)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2"/>
          <p:cNvSpPr/>
          <p:nvPr/>
        </p:nvSpPr>
        <p:spPr>
          <a:xfrm>
            <a:off x="7058880" y="1554480"/>
            <a:ext cx="360" cy="14616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"/>
          <p:cNvSpPr/>
          <p:nvPr/>
        </p:nvSpPr>
        <p:spPr>
          <a:xfrm>
            <a:off x="5257800" y="1700640"/>
            <a:ext cx="3611520" cy="4752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5257800" y="1700640"/>
            <a:ext cx="361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 Gesture?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5"/>
          <p:cNvSpPr/>
          <p:nvPr/>
        </p:nvSpPr>
        <p:spPr>
          <a:xfrm>
            <a:off x="7058880" y="2176200"/>
            <a:ext cx="360" cy="14616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6"/>
          <p:cNvSpPr/>
          <p:nvPr/>
        </p:nvSpPr>
        <p:spPr>
          <a:xfrm>
            <a:off x="8888040" y="183780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i="1" u="none" strike="noStrike">
                <a:solidFill>
                  <a:srgbClr val="c0392b"/>
                </a:solidFill>
                <a:effectLst/>
                <a:uFillTx/>
                <a:latin typeface="Calibri"/>
              </a:rPr>
              <a:t>No → Reject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7"/>
          <p:cNvSpPr/>
          <p:nvPr/>
        </p:nvSpPr>
        <p:spPr>
          <a:xfrm>
            <a:off x="5257800" y="2322720"/>
            <a:ext cx="3611520" cy="475200"/>
          </a:xfrm>
          <a:prstGeom prst="rect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8"/>
          <p:cNvSpPr/>
          <p:nvPr/>
        </p:nvSpPr>
        <p:spPr>
          <a:xfrm>
            <a:off x="5257800" y="2322720"/>
            <a:ext cx="361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Fuse: Gesture + Face + Voice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9"/>
          <p:cNvSpPr/>
          <p:nvPr/>
        </p:nvSpPr>
        <p:spPr>
          <a:xfrm>
            <a:off x="7058880" y="2797920"/>
            <a:ext cx="360" cy="14616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0"/>
          <p:cNvSpPr/>
          <p:nvPr/>
        </p:nvSpPr>
        <p:spPr>
          <a:xfrm>
            <a:off x="5257800" y="2944440"/>
            <a:ext cx="3611520" cy="475200"/>
          </a:xfrm>
          <a:prstGeom prst="rect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1"/>
          <p:cNvSpPr/>
          <p:nvPr/>
        </p:nvSpPr>
        <p:spPr>
          <a:xfrm>
            <a:off x="5257800" y="2944440"/>
            <a:ext cx="361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Owl Optimization Decision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2"/>
          <p:cNvSpPr/>
          <p:nvPr/>
        </p:nvSpPr>
        <p:spPr>
          <a:xfrm>
            <a:off x="7058880" y="3419640"/>
            <a:ext cx="360" cy="14652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3"/>
          <p:cNvSpPr/>
          <p:nvPr/>
        </p:nvSpPr>
        <p:spPr>
          <a:xfrm>
            <a:off x="5257800" y="3566160"/>
            <a:ext cx="3611520" cy="475200"/>
          </a:xfrm>
          <a:prstGeom prst="rect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4"/>
          <p:cNvSpPr/>
          <p:nvPr/>
        </p:nvSpPr>
        <p:spPr>
          <a:xfrm>
            <a:off x="5257800" y="3566160"/>
            <a:ext cx="361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Authenticate &amp; Send IoT Command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5"/>
          <p:cNvSpPr/>
          <p:nvPr/>
        </p:nvSpPr>
        <p:spPr>
          <a:xfrm>
            <a:off x="7058880" y="4041360"/>
            <a:ext cx="360" cy="146520"/>
          </a:xfrm>
          <a:prstGeom prst="line">
            <a:avLst/>
          </a:prstGeom>
          <a:ln w="19050">
            <a:solidFill>
              <a:srgbClr val="8a9b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6"/>
          <p:cNvSpPr/>
          <p:nvPr/>
        </p:nvSpPr>
        <p:spPr>
          <a:xfrm>
            <a:off x="5257800" y="4187880"/>
            <a:ext cx="3611520" cy="475200"/>
          </a:xfrm>
          <a:prstGeom prst="ellipse">
            <a:avLst/>
          </a:prstGeom>
          <a:solidFill>
            <a:srgbClr val="1a7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7"/>
          <p:cNvSpPr/>
          <p:nvPr/>
        </p:nvSpPr>
        <p:spPr>
          <a:xfrm>
            <a:off x="5257800" y="4187880"/>
            <a:ext cx="36115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8"/>
          <p:cNvSpPr/>
          <p:nvPr/>
        </p:nvSpPr>
        <p:spPr>
          <a:xfrm>
            <a:off x="3749040" y="4114800"/>
            <a:ext cx="1508760" cy="360"/>
          </a:xfrm>
          <a:prstGeom prst="line">
            <a:avLst/>
          </a:prstGeom>
          <a:ln w="25400">
            <a:solidFill>
              <a:srgbClr val="f4a26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9"/>
          <p:cNvSpPr/>
          <p:nvPr/>
        </p:nvSpPr>
        <p:spPr>
          <a:xfrm>
            <a:off x="3749040" y="3931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↓ continues →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8: Front-End View of the Application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228600" y="1051560"/>
            <a:ext cx="2742840" cy="3885840"/>
          </a:xfrm>
          <a:prstGeom prst="rect">
            <a:avLst/>
          </a:prstGeom>
          <a:solidFill>
            <a:srgbClr val="e8ecf0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338400" y="1161360"/>
            <a:ext cx="2523240" cy="347436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338400" y="1161360"/>
            <a:ext cx="2523240" cy="38376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393120" y="1179720"/>
            <a:ext cx="2413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Home / Login Screen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411480" y="166428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484560" y="166428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Camera live feed display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411480" y="230436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484560" y="230436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Gesture instruction panel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411480" y="294444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484560" y="294444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 status indicator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411480" y="358452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484560" y="358452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"Start Authentication" button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548640" y="4279320"/>
            <a:ext cx="2102760" cy="2556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548640" y="4279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▶  PROCEED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3154680" y="1051560"/>
            <a:ext cx="2742840" cy="3885840"/>
          </a:xfrm>
          <a:prstGeom prst="rect">
            <a:avLst/>
          </a:prstGeom>
          <a:solidFill>
            <a:srgbClr val="e8ecf0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3264480" y="1161360"/>
            <a:ext cx="2523240" cy="34743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3264480" y="1161360"/>
            <a:ext cx="2523240" cy="38376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3319200" y="1179720"/>
            <a:ext cx="2413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Authentication Process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0"/>
          <p:cNvSpPr/>
          <p:nvPr/>
        </p:nvSpPr>
        <p:spPr>
          <a:xfrm>
            <a:off x="3337560" y="166428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3410640" y="166428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Real-time hand detection overlay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3337560" y="230436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3"/>
          <p:cNvSpPr/>
          <p:nvPr/>
        </p:nvSpPr>
        <p:spPr>
          <a:xfrm>
            <a:off x="3410640" y="230436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Gesture recognition progress bar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3337560" y="294444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3410640" y="294444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Face scan confirmation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6"/>
          <p:cNvSpPr/>
          <p:nvPr/>
        </p:nvSpPr>
        <p:spPr>
          <a:xfrm>
            <a:off x="3337560" y="358452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7"/>
          <p:cNvSpPr/>
          <p:nvPr/>
        </p:nvSpPr>
        <p:spPr>
          <a:xfrm>
            <a:off x="3410640" y="358452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Voice prompt panel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8"/>
          <p:cNvSpPr/>
          <p:nvPr/>
        </p:nvSpPr>
        <p:spPr>
          <a:xfrm>
            <a:off x="3474720" y="4279320"/>
            <a:ext cx="2102760" cy="2556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3474720" y="4279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▶  PROCEED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0"/>
          <p:cNvSpPr/>
          <p:nvPr/>
        </p:nvSpPr>
        <p:spPr>
          <a:xfrm>
            <a:off x="6080760" y="1051560"/>
            <a:ext cx="2742840" cy="3885840"/>
          </a:xfrm>
          <a:prstGeom prst="rect">
            <a:avLst/>
          </a:prstGeom>
          <a:solidFill>
            <a:srgbClr val="e8ecf0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1"/>
          <p:cNvSpPr/>
          <p:nvPr/>
        </p:nvSpPr>
        <p:spPr>
          <a:xfrm>
            <a:off x="6190560" y="1161360"/>
            <a:ext cx="2523240" cy="3474360"/>
          </a:xfrm>
          <a:prstGeom prst="rect">
            <a:avLst/>
          </a:prstGeom>
          <a:solidFill>
            <a:srgbClr val="5c3d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2"/>
          <p:cNvSpPr/>
          <p:nvPr/>
        </p:nvSpPr>
        <p:spPr>
          <a:xfrm>
            <a:off x="6190560" y="1161360"/>
            <a:ext cx="2523240" cy="383760"/>
          </a:xfrm>
          <a:prstGeom prst="rect">
            <a:avLst/>
          </a:prstGeom>
          <a:solidFill>
            <a:srgbClr val="000000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3"/>
          <p:cNvSpPr/>
          <p:nvPr/>
        </p:nvSpPr>
        <p:spPr>
          <a:xfrm>
            <a:off x="6245280" y="1179720"/>
            <a:ext cx="2413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IoT Control Dashboard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4"/>
          <p:cNvSpPr/>
          <p:nvPr/>
        </p:nvSpPr>
        <p:spPr>
          <a:xfrm>
            <a:off x="6263640" y="166428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5"/>
          <p:cNvSpPr/>
          <p:nvPr/>
        </p:nvSpPr>
        <p:spPr>
          <a:xfrm>
            <a:off x="6336720" y="166428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Device status cards (Door, Lights)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36"/>
          <p:cNvSpPr/>
          <p:nvPr/>
        </p:nvSpPr>
        <p:spPr>
          <a:xfrm>
            <a:off x="6263640" y="230436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7"/>
          <p:cNvSpPr/>
          <p:nvPr/>
        </p:nvSpPr>
        <p:spPr>
          <a:xfrm>
            <a:off x="6336720" y="230436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Access granted / denied alert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8"/>
          <p:cNvSpPr/>
          <p:nvPr/>
        </p:nvSpPr>
        <p:spPr>
          <a:xfrm>
            <a:off x="6263640" y="294444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9"/>
          <p:cNvSpPr/>
          <p:nvPr/>
        </p:nvSpPr>
        <p:spPr>
          <a:xfrm>
            <a:off x="6336720" y="294444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 history log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0"/>
          <p:cNvSpPr/>
          <p:nvPr/>
        </p:nvSpPr>
        <p:spPr>
          <a:xfrm>
            <a:off x="6263640" y="3584520"/>
            <a:ext cx="2358720" cy="502560"/>
          </a:xfrm>
          <a:prstGeom prst="rect">
            <a:avLst/>
          </a:prstGeom>
          <a:solidFill>
            <a:srgbClr val="ffffff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41"/>
          <p:cNvSpPr/>
          <p:nvPr/>
        </p:nvSpPr>
        <p:spPr>
          <a:xfrm>
            <a:off x="6336720" y="3584520"/>
            <a:ext cx="221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Settings &amp; profile panel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2"/>
          <p:cNvSpPr/>
          <p:nvPr/>
        </p:nvSpPr>
        <p:spPr>
          <a:xfrm>
            <a:off x="6400800" y="4279320"/>
            <a:ext cx="2102760" cy="2556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3"/>
          <p:cNvSpPr/>
          <p:nvPr/>
        </p:nvSpPr>
        <p:spPr>
          <a:xfrm>
            <a:off x="6400800" y="4279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▶  PROCEED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4"/>
          <p:cNvSpPr/>
          <p:nvPr/>
        </p:nvSpPr>
        <p:spPr>
          <a:xfrm>
            <a:off x="320040" y="4956120"/>
            <a:ext cx="850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i="1" u="none" strike="noStrike">
                <a:solidFill>
                  <a:srgbClr val="8a9bb0"/>
                </a:solidFill>
                <a:effectLst/>
                <a:uFillTx/>
                <a:latin typeface="Calibri"/>
              </a:rPr>
              <a:t>Note: UI designed for web browser / Raspberry Pi display output. Screenshots to be added from live demo.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1b4f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9: Proof of Prompts Generating Codes (Screenshots)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365760" y="10058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34455"/>
                </a:solidFill>
                <a:effectLst/>
                <a:uFillTx/>
                <a:latin typeface="Calibri"/>
              </a:rPr>
              <a:t>The following screenshots demonstrate AI tools generating code from our prompts: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274320" y="1444680"/>
            <a:ext cx="4205880" cy="146268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4"/>
          <p:cNvSpPr/>
          <p:nvPr/>
        </p:nvSpPr>
        <p:spPr>
          <a:xfrm>
            <a:off x="274320" y="1444680"/>
            <a:ext cx="420588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365760" y="14446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🖥  ChatGPT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2834640" y="144468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ResNet Segmentation Code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7"/>
          <p:cNvSpPr/>
          <p:nvPr/>
        </p:nvSpPr>
        <p:spPr>
          <a:xfrm>
            <a:off x="365760" y="1901880"/>
            <a:ext cx="4023000" cy="658080"/>
          </a:xfrm>
          <a:prstGeom prst="rect">
            <a:avLst/>
          </a:prstGeom>
          <a:solidFill>
            <a:srgbClr val="1e27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8"/>
          <p:cNvSpPr/>
          <p:nvPr/>
        </p:nvSpPr>
        <p:spPr>
          <a:xfrm>
            <a:off x="438840" y="1920240"/>
            <a:ext cx="3894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ff78"/>
                </a:solidFill>
                <a:effectLst/>
                <a:uFillTx/>
                <a:latin typeface="Consolas"/>
                <a:ea typeface="Consolas"/>
              </a:rPr>
              <a:t>&gt;&gt;&gt; Prompt submitted to ChatGPT-4 → Generated complete Python script for hand segmentation with ResNet-50 backbone.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9"/>
          <p:cNvSpPr/>
          <p:nvPr/>
        </p:nvSpPr>
        <p:spPr>
          <a:xfrm>
            <a:off x="384120" y="2615040"/>
            <a:ext cx="400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a9bb0"/>
                </a:solidFill>
                <a:effectLst/>
                <a:uFillTx/>
                <a:latin typeface="Calibri"/>
              </a:rPr>
              <a:t>[Screenshot placeholder — attach actual screenshot in final submission]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4709160" y="1444680"/>
            <a:ext cx="4205880" cy="146268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1"/>
          <p:cNvSpPr/>
          <p:nvPr/>
        </p:nvSpPr>
        <p:spPr>
          <a:xfrm>
            <a:off x="4709160" y="1444680"/>
            <a:ext cx="420588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4800600" y="14446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🖥  GitHub Copilot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7269480" y="144468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MobileNet Classifier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4"/>
          <p:cNvSpPr/>
          <p:nvPr/>
        </p:nvSpPr>
        <p:spPr>
          <a:xfrm>
            <a:off x="4800600" y="1901880"/>
            <a:ext cx="4023000" cy="658080"/>
          </a:xfrm>
          <a:prstGeom prst="rect">
            <a:avLst/>
          </a:prstGeom>
          <a:solidFill>
            <a:srgbClr val="1e27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5"/>
          <p:cNvSpPr/>
          <p:nvPr/>
        </p:nvSpPr>
        <p:spPr>
          <a:xfrm>
            <a:off x="4873680" y="1920240"/>
            <a:ext cx="3894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ff78"/>
                </a:solidFill>
                <a:effectLst/>
                <a:uFillTx/>
                <a:latin typeface="Consolas"/>
                <a:ea typeface="Consolas"/>
              </a:rPr>
              <a:t>&gt;&gt;&gt; In-editor Copilot suggestion → Auto-completed MobileNetV2 transfer learning boilerplate in VS Code.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4818960" y="2615040"/>
            <a:ext cx="400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a9bb0"/>
                </a:solidFill>
                <a:effectLst/>
                <a:uFillTx/>
                <a:latin typeface="Calibri"/>
              </a:rPr>
              <a:t>[Screenshot placeholder — attach actual screenshot in final submission]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7"/>
          <p:cNvSpPr/>
          <p:nvPr/>
        </p:nvSpPr>
        <p:spPr>
          <a:xfrm>
            <a:off x="274320" y="3090600"/>
            <a:ext cx="4205880" cy="146268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8"/>
          <p:cNvSpPr/>
          <p:nvPr/>
        </p:nvSpPr>
        <p:spPr>
          <a:xfrm>
            <a:off x="274320" y="3090600"/>
            <a:ext cx="420588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9"/>
          <p:cNvSpPr/>
          <p:nvPr/>
        </p:nvSpPr>
        <p:spPr>
          <a:xfrm>
            <a:off x="365760" y="309060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🖥  Claude AI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0"/>
          <p:cNvSpPr/>
          <p:nvPr/>
        </p:nvSpPr>
        <p:spPr>
          <a:xfrm>
            <a:off x="2834640" y="309060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Owl Search Algorithm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1"/>
          <p:cNvSpPr/>
          <p:nvPr/>
        </p:nvSpPr>
        <p:spPr>
          <a:xfrm>
            <a:off x="365760" y="3547800"/>
            <a:ext cx="4023000" cy="658080"/>
          </a:xfrm>
          <a:prstGeom prst="rect">
            <a:avLst/>
          </a:prstGeom>
          <a:solidFill>
            <a:srgbClr val="1e27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2"/>
          <p:cNvSpPr/>
          <p:nvPr/>
        </p:nvSpPr>
        <p:spPr>
          <a:xfrm>
            <a:off x="438840" y="3566160"/>
            <a:ext cx="3894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ff78"/>
                </a:solidFill>
                <a:effectLst/>
                <a:uFillTx/>
                <a:latin typeface="Consolas"/>
                <a:ea typeface="Consolas"/>
              </a:rPr>
              <a:t>&gt;&gt;&gt; Prompt to Claude → Generated the Owl Search Optimization class with fitness function and convergence tracking.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3"/>
          <p:cNvSpPr/>
          <p:nvPr/>
        </p:nvSpPr>
        <p:spPr>
          <a:xfrm>
            <a:off x="384120" y="4260960"/>
            <a:ext cx="400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a9bb0"/>
                </a:solidFill>
                <a:effectLst/>
                <a:uFillTx/>
                <a:latin typeface="Calibri"/>
              </a:rPr>
              <a:t>[Screenshot placeholder — attach actual screenshot in final submission]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4"/>
          <p:cNvSpPr/>
          <p:nvPr/>
        </p:nvSpPr>
        <p:spPr>
          <a:xfrm>
            <a:off x="4709160" y="3090600"/>
            <a:ext cx="4205880" cy="1462680"/>
          </a:xfrm>
          <a:prstGeom prst="rect">
            <a:avLst/>
          </a:prstGeom>
          <a:solidFill>
            <a:srgbClr val="f0f4f8"/>
          </a:solidFill>
          <a:ln w="0">
            <a:noFill/>
          </a:ln>
          <a:effectLst>
            <a:outerShdw algn="bl" blurRad="889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5"/>
          <p:cNvSpPr/>
          <p:nvPr/>
        </p:nvSpPr>
        <p:spPr>
          <a:xfrm>
            <a:off x="4709160" y="3090600"/>
            <a:ext cx="420588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6"/>
          <p:cNvSpPr/>
          <p:nvPr/>
        </p:nvSpPr>
        <p:spPr>
          <a:xfrm>
            <a:off x="4800600" y="309060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🖥  ChatGPT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7"/>
          <p:cNvSpPr/>
          <p:nvPr/>
        </p:nvSpPr>
        <p:spPr>
          <a:xfrm>
            <a:off x="7269480" y="309060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4a261"/>
                </a:solidFill>
                <a:effectLst/>
                <a:uFillTx/>
                <a:latin typeface="Calibri"/>
              </a:rPr>
              <a:t>MQTT IoT Integration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8"/>
          <p:cNvSpPr/>
          <p:nvPr/>
        </p:nvSpPr>
        <p:spPr>
          <a:xfrm>
            <a:off x="4800600" y="3547800"/>
            <a:ext cx="4023000" cy="658080"/>
          </a:xfrm>
          <a:prstGeom prst="rect">
            <a:avLst/>
          </a:prstGeom>
          <a:solidFill>
            <a:srgbClr val="1e27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9"/>
          <p:cNvSpPr/>
          <p:nvPr/>
        </p:nvSpPr>
        <p:spPr>
          <a:xfrm>
            <a:off x="4873680" y="3566160"/>
            <a:ext cx="38948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8ff78"/>
                </a:solidFill>
                <a:effectLst/>
                <a:uFillTx/>
                <a:latin typeface="Consolas"/>
                <a:ea typeface="Consolas"/>
              </a:rPr>
              <a:t>&gt;&gt;&gt; Prompt → Generated paho-mqtt Python script for publishing auth results to IoT device topics.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0"/>
          <p:cNvSpPr/>
          <p:nvPr/>
        </p:nvSpPr>
        <p:spPr>
          <a:xfrm>
            <a:off x="4818960" y="4260960"/>
            <a:ext cx="4004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i="1" u="none" strike="noStrike">
                <a:solidFill>
                  <a:srgbClr val="8a9bb0"/>
                </a:solidFill>
                <a:effectLst/>
                <a:uFillTx/>
                <a:latin typeface="Calibri"/>
              </a:rPr>
              <a:t>[Screenshot placeholder — attach actual screenshot in final submission]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365760" y="91440"/>
            <a:ext cx="8412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SLIDE 10: References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274320" y="109728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411480" y="112464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[1] He, K., Zhang, X., Ren, S., &amp; Sun, J. (2016). Deep Residual Learning for Image Recognition. CVPR.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274320" y="158184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411480" y="160920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[2] Howard, A. G., et al. (2017). MobileNets: Efficient Convolutional Neural Networks for Mobile Vision Applications. arXiv:1704.04861.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6"/>
          <p:cNvSpPr/>
          <p:nvPr/>
        </p:nvSpPr>
        <p:spPr>
          <a:xfrm>
            <a:off x="274320" y="206640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411480" y="209412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[3] Abdollahzadeh, B., et al. (2021). Owl Search Algorithm: A Novel Nature-Inspired Metaheuristic Algorithm. Journal of Systems Architecture.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274320" y="255132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411480" y="257868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[4] Kaur, H., &amp; Khanna, P. (2019). Privacy Preserving Remote Multi-Factor Authentication Scheme for Biometric IoT. IEEE IoT Journal.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0"/>
          <p:cNvSpPr/>
          <p:nvPr/>
        </p:nvSpPr>
        <p:spPr>
          <a:xfrm>
            <a:off x="274320" y="303588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411480" y="306324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[5] Google Patents / WIPO Search (2026): Gesture-Based Biometric Multi-Factor Authentication for IoT Security.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274320" y="352044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411480" y="354780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[6] OpenCV Documentation. https://docs.opencv.org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4"/>
          <p:cNvSpPr/>
          <p:nvPr/>
        </p:nvSpPr>
        <p:spPr>
          <a:xfrm>
            <a:off x="274320" y="400500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411480" y="403236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[7] TensorFlow / Keras Documentation. https://www.tensorflow.org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274320" y="4489560"/>
            <a:ext cx="8595000" cy="42012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411480" y="4517280"/>
            <a:ext cx="832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ddeeff"/>
                </a:solidFill>
                <a:effectLst/>
                <a:uFillTx/>
                <a:latin typeface="Calibri"/>
              </a:rPr>
              <a:t>[8] MQTT Protocol Specification. https://mqtt.org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8"/>
          <p:cNvSpPr/>
          <p:nvPr/>
        </p:nvSpPr>
        <p:spPr>
          <a:xfrm>
            <a:off x="274320" y="4892040"/>
            <a:ext cx="8595000" cy="18252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9"/>
          <p:cNvSpPr/>
          <p:nvPr/>
        </p:nvSpPr>
        <p:spPr>
          <a:xfrm>
            <a:off x="320040" y="4892040"/>
            <a:ext cx="850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SR University · Warangal, Telangana · 2026  |  Guide: Mr. Naresh Kumar Sripada  |  naresh22.in@gmail.com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LibreOffice/25.8.6.2$Linux_X86_64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2026-04-20T05:50:09Z</dcterms:created>
  <dc:creator>PptxGenJS</dc:creator>
  <dc:description/>
  <dc:language>en-US</dc:language>
  <cp:lastModifiedBy/>
  <dcterms:modified xsi:type="dcterms:W3CDTF">2026-04-21T13:37:49Z</dcterms:modified>
  <cp:revision>2</cp:revision>
  <dc:subject>PptxGenJS Presentation</dc:subject>
  <dc:title>Multi-Factor Gesture-Based Authentication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